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Aptos"/>
              </a:rPr>
              <a:t>Práctica 03: Interfaces de comunicación embebida y protocolos industriales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96372"/>
                </a:solidFill>
                <a:latin typeface="Aptos"/>
              </a:rPr>
              <a:t>UART, I2C, SPI, Bluetooth, WiFi, MQTT e investigación industrial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6126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Aptos"/>
              </a:rPr>
              <a:t>Martín Ramírez Espinosa
Miguel Angel Estrada Ocampo
Brayan Manuel Gallego Ocampo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893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6372"/>
                </a:solidFill>
                <a:latin typeface="Aptos"/>
              </a:rPr>
              <a:t>Electronic Instrumentation Laboratory • Practice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5806440"/>
            <a:ext cx="141732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ESP32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5358384"/>
            <a:ext cx="1417320" cy="34747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Arduino 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Aptos"/>
              </a:rPr>
              <a:t>Plataforma y criterio de evidencia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0424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372"/>
                </a:solidFill>
                <a:latin typeface="Aptos"/>
              </a:rPr>
              <a:t>La presentación sigue el mismo formato de Practice 02: implementación, resultado observado y enlace público.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115568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1206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63624"/>
            <a:ext cx="47183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ptos"/>
              </a:rPr>
              <a:t>Plataforma utilizada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847088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Familia ESP32 con variantes ESP32, ESP32-S3 y ESP32-C6 según actividad.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Programación desde Arduino IDE y validación con monitor serial, LCD, servidor web o dashboard.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Evidencia principal: videos locales, subtítulos generados desde narración y código fuente del repositorio.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57600"/>
            <a:ext cx="51206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3803904"/>
            <a:ext cx="47183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ptos"/>
              </a:rPr>
              <a:t>Mapa de actividades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087368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Puntos 1-3: UART, I2C y SPI.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Punto 4: Bluetooth, WiFi y MQTT.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Punto 5: comparación de protocolos industriales.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  <a:latin typeface="Aptos"/>
              </a:defRPr>
            </a:pPr>
            <a:r>
              <a:t>Punto 6: conclusiones y enlaces.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19659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ctivity-01-fra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216" y="1986390"/>
            <a:ext cx="1709928" cy="30406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36792" y="5541264"/>
            <a:ext cx="16367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596372"/>
                </a:solidFill>
                <a:latin typeface="Aptos"/>
              </a:rPr>
              <a:t>UART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17320"/>
            <a:ext cx="32461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ctivity-03-fra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896" y="1545336"/>
            <a:ext cx="2660406" cy="14996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85632" y="3118104"/>
            <a:ext cx="2916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596372"/>
                </a:solidFill>
                <a:latin typeface="Aptos"/>
              </a:rPr>
              <a:t>SPI / BMP280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3657600"/>
            <a:ext cx="19202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hase-b-wifi-fram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7958" y="3785615"/>
            <a:ext cx="946403" cy="168249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85632" y="5541264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596372"/>
                </a:solidFill>
                <a:latin typeface="Aptos"/>
              </a:rPr>
              <a:t>WiFi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42448" y="3657600"/>
            <a:ext cx="14173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hase-c-mqtt-fram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8029" y="3785615"/>
            <a:ext cx="946156" cy="168249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607040" y="5541264"/>
            <a:ext cx="1088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596372"/>
                </a:solidFill>
                <a:latin typeface="Aptos"/>
              </a:rPr>
              <a:t>MQTT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Aptos"/>
              </a:rPr>
              <a:t>Actividad 1 • UART: juego Adivina el número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0424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372"/>
                </a:solidFill>
                <a:latin typeface="Aptos"/>
              </a:rPr>
              <a:t>Comunicación asíncrona por monitor serial con máquina de estados para entrada de intervalo, intentos y reinicio.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115568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241280" y="329184"/>
            <a:ext cx="141732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Actividad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44752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ivity-01-fra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312" y="1572768"/>
            <a:ext cx="2231695" cy="39684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" y="5614416"/>
            <a:ext cx="33284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596372"/>
                </a:solidFill>
                <a:latin typeface="Aptos"/>
              </a:rPr>
              <a:t>Fotograma de la evidencia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444752"/>
            <a:ext cx="70408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591056"/>
            <a:ext cx="6638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ptos"/>
              </a:rPr>
              <a:t>Aspectos técnicos observados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1901952"/>
            <a:ext cx="6537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Entrada por línea UART: mínimo, máximo y cada intento.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Validación de texto, intervalo inválido y números fuera de rango.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Generación pseudoaleatoria dentro del intervalo inclusivo.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Retroalimentación lower/higher/correct y conteo de intentos válidos.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4096512"/>
            <a:ext cx="70408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4242816"/>
            <a:ext cx="6638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ptos"/>
              </a:rPr>
              <a:t>Resultado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4526280"/>
            <a:ext cx="6492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El video muestra una partida entre 3 y 8: se prueba 5, luego 7 y finalmente 6, confirmando la lógica de comparación y retorno al estado inicial.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5650992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2563EB"/>
                </a:solidFill>
                <a:latin typeface="Aptos"/>
              </a:rPr>
              <a:t>Enlace: https://youtube.com/shorts/_HQYwLkiJ9c?si=lQadRs3gCqAGeCbU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Aptos"/>
              </a:rPr>
              <a:t>Actividad 2 • I2C: reloj y potenciómetro en LCD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0424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372"/>
                </a:solidFill>
                <a:latin typeface="Aptos"/>
              </a:rPr>
              <a:t>Display HD44780 con backpack PCF8574 sobre I2C y lectura ADC simultánea.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115568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241280" y="329184"/>
            <a:ext cx="1417320" cy="34747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Actividad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44752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ivity-02-fra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312" y="1572768"/>
            <a:ext cx="2231695" cy="39684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" y="5614416"/>
            <a:ext cx="33284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596372"/>
                </a:solidFill>
                <a:latin typeface="Aptos"/>
              </a:rPr>
              <a:t>Fotograma de la evidencia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444752"/>
            <a:ext cx="70408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591056"/>
            <a:ext cx="6638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ptos"/>
              </a:rPr>
              <a:t>Aspectos técnicos observados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1901952"/>
            <a:ext cx="6537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Placa ESP32-S3 con SDA en GPIO 8 y SCL en GPIO 9.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Potenciómetro conectado al ADC GPIO 4.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LCD: fila 1 con HH:MM:SS; fila 2 con ADC:&lt;raw&gt;.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El monitor serial repite los valores visibles en pantalla.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4096512"/>
            <a:ext cx="70408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4242816"/>
            <a:ext cx="6638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ptos"/>
              </a:rPr>
              <a:t>Resultado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4526280"/>
            <a:ext cx="6492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La narración valida que el ADC cambia de 0 a 4095 al mover el potenciómetro y que el LCD actualiza hora y lectura analógica.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5650992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2563EB"/>
                </a:solidFill>
                <a:latin typeface="Aptos"/>
              </a:rPr>
              <a:t>Enlace: https://youtube.com/shorts/vAdI14EJ-AE?si=ZgH_PgH258p5YITV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Aptos"/>
              </a:rPr>
              <a:t>Actividad 3 • SPI: sensor BMP280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0424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372"/>
                </a:solidFill>
                <a:latin typeface="Aptos"/>
              </a:rPr>
              <a:t>Lectura de presión barométrica y temperatura mediante BMP280 conectado por bus SPI.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115568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241280" y="329184"/>
            <a:ext cx="1417320" cy="34747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Actividad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44752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ivity-03-fra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598319"/>
            <a:ext cx="3401568" cy="19173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" y="5614416"/>
            <a:ext cx="33284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596372"/>
                </a:solidFill>
                <a:latin typeface="Aptos"/>
              </a:rPr>
              <a:t>Fotograma de la evidencia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444752"/>
            <a:ext cx="70408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591056"/>
            <a:ext cx="6638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ptos"/>
              </a:rPr>
              <a:t>Aspectos técnicos observados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1901952"/>
            <a:ext cx="6537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ESP-WROOM-32 con SCK=18, MISO=19, MOSI=23 y CS=5.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Librerías Adafruit BMP280 y Unified Sensor.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Reporte serial de temperatura, presión en Pa y presión en hPa.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Reintento de inicialización si el sensor no es detectado.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4096512"/>
            <a:ext cx="70408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4242816"/>
            <a:ext cx="6638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ptos"/>
              </a:rPr>
              <a:t>Resultado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4526280"/>
            <a:ext cx="6492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Al soplar aire caliente sobre el BMP280 la temperatura sube casi de inmediato; la presión permanece aproximadamente estable.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5650992"/>
            <a:ext cx="6492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2563EB"/>
                </a:solidFill>
                <a:latin typeface="Aptos"/>
              </a:rPr>
              <a:t>Enlace: https://youtu.be/2PxWPzxKLe0?si=HlDrgoFrQ3gDXHv7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Aptos"/>
              </a:rPr>
              <a:t>Actividad 4 • Bluetooth, WiFi y MQTT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0424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372"/>
                </a:solidFill>
                <a:latin typeface="Aptos"/>
              </a:rPr>
              <a:t>Tres fases de comunicación inalámbrica y mensajería con control de salida desde una interfaz externa.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115568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63624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ptos"/>
              </a:rPr>
              <a:t>Phase A • Bluetooth</a:t>
            </a:r>
          </a:p>
        </p:txBody>
      </p:sp>
      <p:pic>
        <p:nvPicPr>
          <p:cNvPr id="7" name="Picture 6" descr="phase-a-bluetooth-fra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143" y="1874519"/>
            <a:ext cx="1049274" cy="2331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06040" y="1828800"/>
            <a:ext cx="1143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2937"/>
                </a:solidFill>
                <a:latin typeface="Aptos"/>
              </a:defRPr>
            </a:pPr>
            <a:r>
              <a:t>BLE UART-style service.</a:t>
            </a:r>
          </a:p>
          <a:p>
            <a:pPr>
              <a:spcAft>
                <a:spcPts val="400"/>
              </a:spcAft>
              <a:defRPr sz="950">
                <a:solidFill>
                  <a:srgbClr val="1F2937"/>
                </a:solidFill>
                <a:latin typeface="Aptos"/>
              </a:defRPr>
            </a:pPr>
            <a:r>
              <a:t>Comandos ON/OFF/TOGGLE/STATUS.</a:t>
            </a:r>
          </a:p>
          <a:p>
            <a:pPr>
              <a:spcAft>
                <a:spcPts val="400"/>
              </a:spcAft>
              <a:defRPr sz="950">
                <a:solidFill>
                  <a:srgbClr val="1F2937"/>
                </a:solidFill>
                <a:latin typeface="Aptos"/>
              </a:defRPr>
            </a:pPr>
            <a:r>
              <a:t>LED en GPIO 2 y potenciómetro en GPIO 34.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1772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tos"/>
              </a:rPr>
              <a:t>Resultado: comunicación bidireccional con terminal móvil y reporte serial paralelo.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563624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ptos"/>
              </a:rPr>
              <a:t>Phase B • WiFi</a:t>
            </a:r>
          </a:p>
        </p:txBody>
      </p:sp>
      <p:pic>
        <p:nvPicPr>
          <p:cNvPr id="12" name="Picture 11" descr="phase-b-wifi-fra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455" y="1874519"/>
            <a:ext cx="1311592" cy="2331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55080" y="1828800"/>
            <a:ext cx="1234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2937"/>
                </a:solidFill>
                <a:latin typeface="Aptos"/>
              </a:defRPr>
            </a:pPr>
            <a:r>
              <a:t>ESP32-C6 en red WiFi local.</a:t>
            </a:r>
          </a:p>
          <a:p>
            <a:pPr>
              <a:spcAft>
                <a:spcPts val="400"/>
              </a:spcAft>
              <a:defRPr sz="950">
                <a:solidFill>
                  <a:srgbClr val="1F2937"/>
                </a:solidFill>
                <a:latin typeface="Aptos"/>
              </a:defRPr>
            </a:pPr>
            <a:r>
              <a:t>Servidor web con selector de color.</a:t>
            </a:r>
          </a:p>
          <a:p>
            <a:pPr>
              <a:spcAft>
                <a:spcPts val="400"/>
              </a:spcAft>
              <a:defRPr sz="950">
                <a:solidFill>
                  <a:srgbClr val="1F2937"/>
                </a:solidFill>
                <a:latin typeface="Aptos"/>
              </a:defRPr>
            </a:pPr>
            <a:r>
              <a:t>NeoPixel RGB en GPIO 8.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4617720"/>
            <a:ext cx="2880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tos"/>
              </a:rPr>
              <a:t>Resultado: cambio de color reflejado en el LED y en el monitor serial.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563624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ptos"/>
              </a:rPr>
              <a:t>Phase C • MQTT</a:t>
            </a:r>
          </a:p>
        </p:txBody>
      </p:sp>
      <p:pic>
        <p:nvPicPr>
          <p:cNvPr id="17" name="Picture 16" descr="phase-c-mqtt-fram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8667" y="1874519"/>
            <a:ext cx="1311249" cy="23317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085832" y="1828800"/>
            <a:ext cx="1234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F2937"/>
                </a:solidFill>
                <a:latin typeface="Aptos"/>
              </a:defRPr>
            </a:pPr>
            <a:r>
              <a:t>Broker MQTT y dashboard web.</a:t>
            </a:r>
          </a:p>
          <a:p>
            <a:pPr>
              <a:spcAft>
                <a:spcPts val="400"/>
              </a:spcAft>
              <a:defRPr sz="950">
                <a:solidFill>
                  <a:srgbClr val="1F2937"/>
                </a:solidFill>
                <a:latin typeface="Aptos"/>
              </a:defRPr>
            </a:pPr>
            <a:r>
              <a:t>Telemetría de potenciómetro.</a:t>
            </a:r>
          </a:p>
          <a:p>
            <a:pPr>
              <a:spcAft>
                <a:spcPts val="400"/>
              </a:spcAft>
              <a:defRPr sz="950">
                <a:solidFill>
                  <a:srgbClr val="1F2937"/>
                </a:solidFill>
                <a:latin typeface="Aptos"/>
              </a:defRPr>
            </a:pPr>
            <a:r>
              <a:t>Comandos ON/OFF/TOGGLE/STATUS.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617720"/>
            <a:ext cx="2880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tos"/>
              </a:rPr>
              <a:t>Resultado: control de LED y lectura analógica mediante intercambio brokerizado.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Aptos"/>
              </a:rPr>
              <a:t>Actividad 4A • Bluetooth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0424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372"/>
                </a:solidFill>
                <a:latin typeface="Aptos"/>
              </a:rPr>
              <a:t>BLE UART-style para comandos desde celular y notificaciones periódicas.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115568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149840" y="329184"/>
            <a:ext cx="141732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Punto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9718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hase-a-bluetooth-fra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774" y="1545336"/>
            <a:ext cx="1826971" cy="40599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" y="5678424"/>
            <a:ext cx="2642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596372"/>
                </a:solidFill>
                <a:latin typeface="Aptos"/>
              </a:rPr>
              <a:t>Fotograma de la evidencia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1417320"/>
            <a:ext cx="75438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87368" y="1563624"/>
            <a:ext cx="7141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ptos"/>
              </a:rPr>
              <a:t>Contrato de comunicación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874519"/>
            <a:ext cx="7040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Device name: EI-P03-PhaseA.</a:t>
            </a:r>
          </a:p>
          <a:p>
            <a:pPr>
              <a:spcAft>
                <a:spcPts val="4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Servicio NUS compatible: RX para comandos, TX para notificaciones.</a:t>
            </a:r>
          </a:p>
          <a:p>
            <a:pPr>
              <a:spcAft>
                <a:spcPts val="4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LED en GPIO 2; potenciómetro en GPIO 34.</a:t>
            </a:r>
          </a:p>
          <a:p>
            <a:pPr>
              <a:spcAft>
                <a:spcPts val="4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El video documenta control móvil y lectura automática cada segundo.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4617720"/>
            <a:ext cx="7543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87368" y="4764024"/>
            <a:ext cx="7141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ptos"/>
              </a:rPr>
              <a:t>Evidencia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5010912"/>
            <a:ext cx="7040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563EB"/>
                </a:solidFill>
                <a:latin typeface="Aptos"/>
              </a:rPr>
              <a:t>Enlace: https://youtube.com/shorts/fElDFphvVDI?si=rPs2ZITdKcybS1aW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Aptos"/>
              </a:rPr>
              <a:t>Actividad 4B • WiFi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0424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372"/>
                </a:solidFill>
                <a:latin typeface="Aptos"/>
              </a:rPr>
              <a:t>Servidor web en ESP32-C6 para controlar un LED RGB NeoPixel desde navegador.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115568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149840" y="329184"/>
            <a:ext cx="1417320" cy="34747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Punto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9718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hase-b-wifi-fra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403" y="1545336"/>
            <a:ext cx="2283713" cy="40599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" y="5678424"/>
            <a:ext cx="2642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596372"/>
                </a:solidFill>
                <a:latin typeface="Aptos"/>
              </a:rPr>
              <a:t>Fotograma de la evidencia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1417320"/>
            <a:ext cx="75438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87368" y="1563624"/>
            <a:ext cx="7141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ptos"/>
              </a:rPr>
              <a:t>Contrato de comunicación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874519"/>
            <a:ext cx="7040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Conexión en modo estación a red WiFi local.</a:t>
            </a:r>
          </a:p>
          <a:p>
            <a:pPr>
              <a:spcAft>
                <a:spcPts val="4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Interfaz HTML con input color y botón Send color.</a:t>
            </a:r>
          </a:p>
          <a:p>
            <a:pPr>
              <a:spcAft>
                <a:spcPts val="4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Ruta GET /set?r=&lt;0-255&gt;&amp;g=&lt;0-255&gt;&amp;b=&lt;0-255&gt;.</a:t>
            </a:r>
          </a:p>
          <a:p>
            <a:pPr>
              <a:spcAft>
                <a:spcPts val="4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El código del repositorio no conserva credenciales reales.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4617720"/>
            <a:ext cx="7543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87368" y="4764024"/>
            <a:ext cx="7141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ptos"/>
              </a:rPr>
              <a:t>Evidencia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5010912"/>
            <a:ext cx="7040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563EB"/>
                </a:solidFill>
                <a:latin typeface="Aptos"/>
              </a:rPr>
              <a:t>Enlace: https://youtube.com/shorts/Vz8r_O9taPU?si=RDz3G7QgOypG8BYC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Aptos"/>
              </a:rPr>
              <a:t>Actividad 4C • MQTT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0424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372"/>
                </a:solidFill>
                <a:latin typeface="Aptos"/>
              </a:rPr>
              <a:t>Publicación de telemetría y recepción de comandos mediante broker MQTT.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115568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149840" y="329184"/>
            <a:ext cx="1417320" cy="34747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Punto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9718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hase-c-mqtt-fra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701" y="1545336"/>
            <a:ext cx="2283116" cy="40599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" y="5678424"/>
            <a:ext cx="2642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596372"/>
                </a:solidFill>
                <a:latin typeface="Aptos"/>
              </a:rPr>
              <a:t>Fotograma de la evidencia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1417320"/>
            <a:ext cx="75438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87368" y="1563624"/>
            <a:ext cx="7141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ptos"/>
              </a:rPr>
              <a:t>Contrato de comunicación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874519"/>
            <a:ext cx="7040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Temas: telemetry, status y command bajo ei/practice03/phase-c.</a:t>
            </a:r>
          </a:p>
          <a:p>
            <a:pPr>
              <a:spcAft>
                <a:spcPts val="4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Potenciómetro en GPIO 34; LED azul en GPIO 2.</a:t>
            </a:r>
          </a:p>
          <a:p>
            <a:pPr>
              <a:spcAft>
                <a:spcPts val="4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Dashboard HTML conectado por WebSocket.</a:t>
            </a:r>
          </a:p>
          <a:p>
            <a:pPr>
              <a:spcAft>
                <a:spcPts val="4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Validación visible: 0%-100% al mover el potenciómetro y control remoto del LED.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4617720"/>
            <a:ext cx="7543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87368" y="4764024"/>
            <a:ext cx="7141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ptos"/>
              </a:rPr>
              <a:t>Evidencia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5010912"/>
            <a:ext cx="7040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563EB"/>
                </a:solidFill>
                <a:latin typeface="Aptos"/>
              </a:rPr>
              <a:t>Enlace: https://youtube.com/shorts/MiYnQxtlrok?si=RPvyZOGT-_sn066Y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Aptos"/>
              </a:rPr>
              <a:t>Punto 5 • Protocolos industriales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0424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372"/>
                </a:solidFill>
                <a:latin typeface="Aptos"/>
              </a:rPr>
              <a:t>Comparación por nivel de sistema, medio físico y modelo de comunicación.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115568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17320"/>
          <a:ext cx="1097279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2788920"/>
                <a:gridCol w="2148840"/>
                <a:gridCol w="4160520"/>
              </a:tblGrid>
              <a:tr h="384048"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F2937"/>
                          </a:solidFill>
                          <a:latin typeface="Aptos"/>
                        </a:rPr>
                        <a:t>Nivel / caso</a:t>
                      </a:r>
                    </a:p>
                  </a:txBody>
                  <a:tcPr marL="45720" marR="45720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F2937"/>
                          </a:solidFill>
                          <a:latin typeface="Aptos"/>
                        </a:rPr>
                        <a:t>Protocolos</a:t>
                      </a:r>
                    </a:p>
                  </a:txBody>
                  <a:tcPr marL="45720" marR="45720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F2937"/>
                          </a:solidFill>
                          <a:latin typeface="Aptos"/>
                        </a:rPr>
                        <a:t>Interfaz típica</a:t>
                      </a:r>
                    </a:p>
                  </a:txBody>
                  <a:tcPr marL="45720" marR="45720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F2937"/>
                          </a:solidFill>
                          <a:latin typeface="Aptos"/>
                        </a:rPr>
                        <a:t>Criterio principal</a:t>
                      </a:r>
                    </a:p>
                  </a:txBody>
                  <a:tcPr marL="45720" marR="45720" marT="27432" marB="27432">
                    <a:solidFill>
                      <a:srgbClr val="E8F0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F2937"/>
                          </a:solidFill>
                          <a:latin typeface="Aptos"/>
                        </a:rPr>
                        <a:t>Campo serial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F2937"/>
                          </a:solidFill>
                          <a:latin typeface="Aptos"/>
                        </a:rPr>
                        <a:t>Modbus RTU, PROFIBUS DP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F2937"/>
                          </a:solidFill>
                          <a:latin typeface="Aptos"/>
                        </a:rPr>
                        <a:t>RS-485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F2937"/>
                          </a:solidFill>
                          <a:latin typeface="Aptos"/>
                        </a:rPr>
                        <a:t>Robustez, bajo costo y cableado multidrop.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F2937"/>
                          </a:solidFill>
                          <a:latin typeface="Aptos"/>
                        </a:rPr>
                        <a:t>Sensores inteligentes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F2937"/>
                          </a:solidFill>
                          <a:latin typeface="Aptos"/>
                        </a:rPr>
                        <a:t>IO-Link, HART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F2937"/>
                          </a:solidFill>
                          <a:latin typeface="Aptos"/>
                        </a:rPr>
                        <a:t>3 hilos / 4-20 mA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F2937"/>
                          </a:solidFill>
                          <a:latin typeface="Aptos"/>
                        </a:rPr>
                        <a:t>Diagnóstico y parametrización sin perder simplicidad.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F2937"/>
                          </a:solidFill>
                          <a:latin typeface="Aptos"/>
                        </a:rPr>
                        <a:t>Embebido robusto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F2937"/>
                          </a:solidFill>
                          <a:latin typeface="Aptos"/>
                        </a:rPr>
                        <a:t>CAN / CANopen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F2937"/>
                          </a:solidFill>
                          <a:latin typeface="Aptos"/>
                        </a:rPr>
                        <a:t>CAN diferencial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F2937"/>
                          </a:solidFill>
                          <a:latin typeface="Aptos"/>
                        </a:rPr>
                        <a:t>Arbitraje determinista y perfiles de dispositivo.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F2937"/>
                          </a:solidFill>
                          <a:latin typeface="Aptos"/>
                        </a:rPr>
                        <a:t>Ethernet industrial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F2937"/>
                          </a:solidFill>
                          <a:latin typeface="Aptos"/>
                        </a:rPr>
                        <a:t>PROFINET, EtherNet/IP, Modbus TCP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F2937"/>
                          </a:solidFill>
                          <a:latin typeface="Aptos"/>
                        </a:rPr>
                        <a:t>Ethernet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F2937"/>
                          </a:solidFill>
                          <a:latin typeface="Aptos"/>
                        </a:rPr>
                        <a:t>Ancho de banda, diagnóstico e integración PLC.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F2937"/>
                          </a:solidFill>
                          <a:latin typeface="Aptos"/>
                        </a:rPr>
                        <a:t>Supervisión / IIoT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F2937"/>
                          </a:solidFill>
                          <a:latin typeface="Aptos"/>
                        </a:rPr>
                        <a:t>OPC UA, MQTT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F2937"/>
                          </a:solidFill>
                          <a:latin typeface="Aptos"/>
                        </a:rPr>
                        <a:t>IP / broker / PubSub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F2937"/>
                          </a:solidFill>
                          <a:latin typeface="Aptos"/>
                        </a:rPr>
                        <a:t>Modelo semántico o telemetría escalable.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94360" y="4114800"/>
            <a:ext cx="109728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4261104"/>
            <a:ext cx="10570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ptos"/>
              </a:rPr>
              <a:t>Criterio de selección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26280"/>
            <a:ext cx="10424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No existe un protocolo universal: campo, control, supervisión y nube tienen restricciones distintas.</a:t>
            </a:r>
          </a:p>
          <a:p>
            <a:pPr>
              <a:spcAft>
                <a:spcPts val="4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t>Para control de bajo nivel importan determinismo, inmunidad al ruido y simplicidad; para supervisión importan interoperabilidad, seguridad, semántica y escalabilidad.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Aptos"/>
              </a:rPr>
              <a:t>Resumen de resultados y enlaces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0424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6372"/>
                </a:solidFill>
                <a:latin typeface="Aptos"/>
              </a:rPr>
              <a:t>Consolidado de la evidencia mínima pedida por la guía de Practice 03.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52144"/>
            <a:ext cx="1115568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325880"/>
          <a:ext cx="11384279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240280"/>
                <a:gridCol w="3749039"/>
                <a:gridCol w="4800600"/>
              </a:tblGrid>
              <a:tr h="384048">
                <a:tc>
                  <a:txBody>
                    <a:bodyPr/>
                    <a:lstStyle/>
                    <a:p>
                      <a:r>
                        <a:rPr sz="730" b="1">
                          <a:solidFill>
                            <a:srgbClr val="1F2937"/>
                          </a:solidFill>
                          <a:latin typeface="Aptos"/>
                        </a:rPr>
                        <a:t>Punto</a:t>
                      </a:r>
                    </a:p>
                  </a:txBody>
                  <a:tcPr marL="45720" marR="45720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 b="1">
                          <a:solidFill>
                            <a:srgbClr val="1F2937"/>
                          </a:solidFill>
                          <a:latin typeface="Aptos"/>
                        </a:rPr>
                        <a:t>Implementación</a:t>
                      </a:r>
                    </a:p>
                  </a:txBody>
                  <a:tcPr marL="45720" marR="45720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 b="1">
                          <a:solidFill>
                            <a:srgbClr val="1F2937"/>
                          </a:solidFill>
                          <a:latin typeface="Aptos"/>
                        </a:rPr>
                        <a:t>Resultado principal</a:t>
                      </a:r>
                    </a:p>
                  </a:txBody>
                  <a:tcPr marL="45720" marR="45720" marT="27432" marB="27432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 b="1">
                          <a:solidFill>
                            <a:srgbClr val="1F2937"/>
                          </a:solidFill>
                          <a:latin typeface="Aptos"/>
                        </a:rPr>
                        <a:t>Enlace</a:t>
                      </a:r>
                    </a:p>
                  </a:txBody>
                  <a:tcPr marL="45720" marR="45720" marT="27432" marB="27432">
                    <a:solidFill>
                      <a:srgbClr val="E8F0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F2937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F2937"/>
                          </a:solidFill>
                          <a:latin typeface="Aptos"/>
                        </a:rPr>
                        <a:t>UART: juego Adivina el número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F2937"/>
                          </a:solidFill>
                          <a:latin typeface="Aptos"/>
                        </a:rPr>
                        <a:t>Intervalo, pistas mayor/menor y acierto validado.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F2937"/>
                          </a:solidFill>
                          <a:latin typeface="Aptos"/>
                        </a:rPr>
                        <a:t>youtube.com/shorts/_HQYwLkiJ9c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F2937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F2937"/>
                          </a:solidFill>
                          <a:latin typeface="Aptos"/>
                        </a:rPr>
                        <a:t>I2C: LCD + ADC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F2937"/>
                          </a:solidFill>
                          <a:latin typeface="Aptos"/>
                        </a:rPr>
                        <a:t>Hora y potenciómetro visibles en LCD y serial.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F2937"/>
                          </a:solidFill>
                          <a:latin typeface="Aptos"/>
                        </a:rPr>
                        <a:t>youtube.com/shorts/vAdI14EJ-AE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F2937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F2937"/>
                          </a:solidFill>
                          <a:latin typeface="Aptos"/>
                        </a:rPr>
                        <a:t>SPI: BMP280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F2937"/>
                          </a:solidFill>
                          <a:latin typeface="Aptos"/>
                        </a:rPr>
                        <a:t>Temperatura sube con aire caliente; presión se reporta en Pa/hPa.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F2937"/>
                          </a:solidFill>
                          <a:latin typeface="Aptos"/>
                        </a:rPr>
                        <a:t>youtu.be/2PxWPzxKLe0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F2937"/>
                          </a:solidFill>
                          <a:latin typeface="Aptos"/>
                        </a:rPr>
                        <a:t>4A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F2937"/>
                          </a:solidFill>
                          <a:latin typeface="Aptos"/>
                        </a:rPr>
                        <a:t>Bluetooth: terminal móvil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F2937"/>
                          </a:solidFill>
                          <a:latin typeface="Aptos"/>
                        </a:rPr>
                        <a:t>Comandos y telemetría entre celular y ESP32.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F2937"/>
                          </a:solidFill>
                          <a:latin typeface="Aptos"/>
                        </a:rPr>
                        <a:t>youtube.com/shorts/fElDFphvVDI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F2937"/>
                          </a:solidFill>
                          <a:latin typeface="Aptos"/>
                        </a:rPr>
                        <a:t>4B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F2937"/>
                          </a:solidFill>
                          <a:latin typeface="Aptos"/>
                        </a:rPr>
                        <a:t>WiFi: RGB web server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F2937"/>
                          </a:solidFill>
                          <a:latin typeface="Aptos"/>
                        </a:rPr>
                        <a:t>Selector web controla NeoPixel RGB en ESP32-C6.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F2937"/>
                          </a:solidFill>
                          <a:latin typeface="Aptos"/>
                        </a:rPr>
                        <a:t>youtube.com/shorts/Vz8r_O9taPU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F2937"/>
                          </a:solidFill>
                          <a:latin typeface="Aptos"/>
                        </a:rPr>
                        <a:t>4C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F2937"/>
                          </a:solidFill>
                          <a:latin typeface="Aptos"/>
                        </a:rPr>
                        <a:t>MQTT: broker + dashboard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F2937"/>
                          </a:solidFill>
                          <a:latin typeface="Aptos"/>
                        </a:rPr>
                        <a:t>Telemetría de ADC y control de LED por comandos.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F2937"/>
                          </a:solidFill>
                          <a:latin typeface="Aptos"/>
                        </a:rPr>
                        <a:t>youtube.com/shorts/MiYnQxtlrok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F2937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F2937"/>
                          </a:solidFill>
                          <a:latin typeface="Aptos"/>
                        </a:rPr>
                        <a:t>Investigación industrial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F2937"/>
                          </a:solidFill>
                          <a:latin typeface="Aptos"/>
                        </a:rPr>
                        <a:t>Comparación de Modbus, PROFIBUS, PROFINET, CAN, HART, OPC UA, IO-Link y MQTT.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F2937"/>
                          </a:solidFill>
                          <a:latin typeface="Aptos"/>
                        </a:rPr>
                        <a:t>research/README.md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94360" y="5504688"/>
            <a:ext cx="109728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5650992"/>
            <a:ext cx="10570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ptos"/>
              </a:rPr>
              <a:t>Conclusión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88736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1F2937"/>
                </a:solidFill>
                <a:latin typeface="Aptos"/>
              </a:rPr>
              <a:t>La práctica cubre comunicación punto a punto, buses síncronos, servicios inalámbricos y mensajería brokerizada; la elección del protocolo depende del nivel del sistema y de las restricciones de tiempo real, integración y diagnóstico.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